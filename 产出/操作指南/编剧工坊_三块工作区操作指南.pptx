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开场先说明：这不是一份功能清单，而是一条使用路径。今天只讲三块区域和五个动作，讲完大家能自己从空白项目走到生成 Excel/Word。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先让大家认位置：左中右不是三个功能，而是三种角色——流程、内容、项目。后面所有操作都落在这三块里。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强调项目卡不是表单摆设：总控会拿它做自检并生成九份简报。先填清楚，后面每个阶段才有共同前提。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知识库是第二步。关键不是上传，而是挂载：哪个阶段用哪本书的哪一章，要进到该阶段的阶段说明里选。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左侧是导航，也是方法。四书的方法被落成九个工序：先类型、再结构、再人物场景、最后成稿。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会话窗口负责沟通，默认预设负责把方法固定下来。两者配合：预设给底线，会话补当前项目的具体要求。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这是本次最值得现场演示的一页。三块都能逐条改；上传的知识库必须在这里挂到阶段，才会进入该阶段的简报。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最后把闭环讲清楚：保存是持久化，生成是出文件；空白项目不能直接生成，必须用示范案例或结构化数据。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收尾只重复五个动作。现场如果时间有限，就按这条线演示一遍，其他细节留给文档。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142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645919" y="3200399"/>
            <a:ext cx="2926080" cy="2926080"/>
          </a:xfrm>
          <a:prstGeom prst="ellipse">
            <a:avLst/>
          </a:prstGeom>
          <a:noFill/>
          <a:ln w="11430">
            <a:solidFill>
              <a:srgbClr val="2C4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4023359"/>
            <a:ext cx="4023360" cy="4023360"/>
          </a:xfrm>
          <a:prstGeom prst="ellipse">
            <a:avLst/>
          </a:prstGeom>
          <a:noFill/>
          <a:ln w="11430">
            <a:solidFill>
              <a:srgbClr val="2C42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B9AE97"/>
                </a:solidFill>
                <a:latin typeface="Microsoft YaHei"/>
                <a:ea typeface="Microsoft YaHei"/>
                <a:cs typeface="Microsoft YaHei"/>
              </a:rPr>
              <a:t>SCREENWRITER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887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剧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坊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91640" y="1207008"/>
            <a:ext cx="0" cy="2039112"/>
          </a:xfrm>
          <a:prstGeom prst="line">
            <a:avLst/>
          </a:prstGeom>
          <a:ln w="27940">
            <a:solidFill>
              <a:srgbClr val="B07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74519" y="12344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E8DFCB"/>
                </a:solidFill>
                <a:latin typeface="Microsoft YaHei"/>
                <a:ea typeface="Microsoft YaHei"/>
                <a:cs typeface="Microsoft YaHei"/>
              </a:rPr>
              <a:t>四书方法 · 九道工序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62763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B9AE97"/>
                </a:solidFill>
                <a:latin typeface="Microsoft YaHei"/>
                <a:ea typeface="Microsoft YaHei"/>
                <a:cs typeface="Microsoft YaHei"/>
              </a:rPr>
              <a:t>Excel 蓝图 + Word 剧本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862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50" b="0" i="0">
                <a:solidFill>
                  <a:srgbClr val="D8CFBD"/>
                </a:solidFill>
                <a:latin typeface="Microsoft YaHei"/>
                <a:ea typeface="Microsoft YaHei"/>
                <a:cs typeface="Microsoft YaHei"/>
              </a:rPr>
              <a:t>把一句想法，做成可开拍的剧作蓝图。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868680" cy="274320"/>
          </a:xfrm>
          <a:prstGeom prst="roundRect">
            <a:avLst/>
          </a:prstGeom>
          <a:solidFill>
            <a:srgbClr val="213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49286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1" i="0">
                <a:solidFill>
                  <a:srgbClr val="9DC9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7048" y="4892040"/>
            <a:ext cx="868680" cy="274320"/>
          </a:xfrm>
          <a:prstGeom prst="roundRect">
            <a:avLst/>
          </a:prstGeom>
          <a:solidFill>
            <a:srgbClr val="213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49286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1" i="0">
                <a:solidFill>
                  <a:srgbClr val="9DC9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51176" y="4892040"/>
            <a:ext cx="868680" cy="274320"/>
          </a:xfrm>
          <a:prstGeom prst="roundRect">
            <a:avLst/>
          </a:prstGeom>
          <a:solidFill>
            <a:srgbClr val="213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4328" y="49286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1" i="0">
                <a:solidFill>
                  <a:srgbClr val="9DC9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03520"/>
            <a:ext cx="868680" cy="274320"/>
          </a:xfrm>
          <a:prstGeom prst="roundRect">
            <a:avLst/>
          </a:prstGeom>
          <a:solidFill>
            <a:srgbClr val="213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534009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1" i="0">
                <a:solidFill>
                  <a:srgbClr val="9DC9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27048" y="5303520"/>
            <a:ext cx="868680" cy="274320"/>
          </a:xfrm>
          <a:prstGeom prst="roundRect">
            <a:avLst/>
          </a:prstGeom>
          <a:solidFill>
            <a:srgbClr val="213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534009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1" i="0">
                <a:solidFill>
                  <a:srgbClr val="9DC9C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51176" y="5303520"/>
            <a:ext cx="868680" cy="274320"/>
          </a:xfrm>
          <a:prstGeom prst="roundRect">
            <a:avLst/>
          </a:prstGeom>
          <a:solidFill>
            <a:srgbClr val="213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4328" y="534009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1" i="0">
                <a:solidFill>
                  <a:srgbClr val="9DC9C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15000"/>
            <a:ext cx="868680" cy="274320"/>
          </a:xfrm>
          <a:prstGeom prst="roundRect">
            <a:avLst/>
          </a:prstGeom>
          <a:solidFill>
            <a:srgbClr val="213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575157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1" i="0">
                <a:solidFill>
                  <a:srgbClr val="9DC9C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27048" y="5715000"/>
            <a:ext cx="868680" cy="274320"/>
          </a:xfrm>
          <a:prstGeom prst="roundRect">
            <a:avLst/>
          </a:prstGeom>
          <a:solidFill>
            <a:srgbClr val="213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575157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1" i="0">
                <a:solidFill>
                  <a:srgbClr val="9DC9C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51176" y="5715000"/>
            <a:ext cx="868680" cy="274320"/>
          </a:xfrm>
          <a:prstGeom prst="roundRect">
            <a:avLst/>
          </a:prstGeom>
          <a:solidFill>
            <a:srgbClr val="213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24328" y="575157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50" b="1" i="0">
                <a:solidFill>
                  <a:srgbClr val="9DC9C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868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i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操作指南 / 讲解版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1234440"/>
            <a:ext cx="62179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三块工作区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一套从空白到成稿的流程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816352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 i="0">
                <a:solidFill>
                  <a:srgbClr val="B07D2B"/>
                </a:solidFill>
                <a:latin typeface="Microsoft YaHei"/>
                <a:ea typeface="Microsoft YaHei"/>
                <a:cs typeface="Microsoft YaHei"/>
              </a:rPr>
              <a:t>左选工序 · 中做内容 · 右管项目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310128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20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给第一次使用编剧工坊的同事：先认三块区域，再用五步串起一遍流程。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4572000"/>
            <a:ext cx="1783080" cy="457200"/>
          </a:xfrm>
          <a:prstGeom prst="round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左 · 选工序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24928" y="4572000"/>
            <a:ext cx="1783080" cy="457200"/>
          </a:xfrm>
          <a:prstGeom prst="roundRect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 · 做内容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63456" y="4572000"/>
            <a:ext cx="1783080" cy="457200"/>
          </a:xfrm>
          <a:prstGeom prst="roundRect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右 · 管项目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989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2026 · 编剧工坊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310896"/>
            <a:ext cx="210312" cy="0"/>
          </a:xfrm>
          <a:prstGeom prst="line">
            <a:avLst/>
          </a:prstGeom>
          <a:ln w="31750">
            <a:solidFill>
              <a:srgbClr val="B07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01 / 先认界面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三块区域：左选工序，中做内容，右管项目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编剧工坊 · 三块工作区操作指南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8" name="Picture 7" descr="ui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8713"/>
            <a:ext cx="7726679" cy="4648628"/>
          </a:xfrm>
          <a:prstGeom prst="rect">
            <a:avLst/>
          </a:prstGeom>
          <a:ln w="9525">
            <a:solidFill>
              <a:srgbClr val="DCD2B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08076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1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实际界面：空白项目状态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325880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577072" y="1508760"/>
            <a:ext cx="347472" cy="347472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49047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左侧 · 九道工序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1856231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8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四个阶段、九个工序。点哪一项，中栏就切到哪一阶段。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898648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577072" y="3081528"/>
            <a:ext cx="347472" cy="347472"/>
          </a:xfrm>
          <a:prstGeom prst="ellipse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063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中间 · 三页工作区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342900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8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会话窗口、默认预设、阶段说明。真正写要求、改 brief、挂资料都在这里。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471416"/>
            <a:ext cx="3291840" cy="132588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577072" y="4654296"/>
            <a:ext cx="347472" cy="347472"/>
          </a:xfrm>
          <a:prstGeom prst="ellipse">
            <a:avLst/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636007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右侧 · 项目卡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001768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8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填项目信息，点「总控」把设定同步给九个阶段；下面看交付物。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14476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讲解时先指这三块，再按后面的 01 → 05 顺序走。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310896"/>
            <a:ext cx="210312" cy="0"/>
          </a:xfrm>
          <a:prstGeom prst="line">
            <a:avLst/>
          </a:prstGeom>
          <a:ln w="31750">
            <a:solidFill>
              <a:srgbClr val="B07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02 / 右栏 · 项目卡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先把项目说清楚，再点总控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编剧工坊 · 三块工作区操作指南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72237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项目卡是整条流程的输入。项目名、格式、类型、受众、预算、基调六项会参与自检；梗概与主题会写进九份简报。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48256"/>
            <a:ext cx="384048" cy="384048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993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填项目卡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322576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3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右侧从上到下填八项：项目名、格式、类型、受众、预算、基调、一句话梗概、主题。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44368"/>
            <a:ext cx="384048" cy="384048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8895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点「总控」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218688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3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按钮会先做本地自检：缺项、长度、类型/梗概/基调冲突、受众、预算。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840480"/>
            <a:ext cx="384048" cy="384048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78561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处理自检结果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114800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3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有冲突会弹窗。可以「返回修改」，也可以确认无误后「仍然继续」。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36592"/>
            <a:ext cx="384048" cy="384048"/>
          </a:xfrm>
          <a:prstGeom prst="ellipse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681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接收九份简报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010912"/>
            <a:ext cx="6309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3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继续后，项目卡被写成九份总控简报，写进九个阶段的会话窗口。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234440"/>
            <a:ext cx="3520440" cy="461772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30768" y="13990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项目卡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166420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还没有项目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196596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19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填完项目卡，或先载入示范案例看完整流程。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30768" y="2450592"/>
            <a:ext cx="1234440" cy="329184"/>
          </a:xfrm>
          <a:prstGeom prst="round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8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载入示范案例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290779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8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项目名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2880360"/>
            <a:ext cx="2423160" cy="228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30768" y="32735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8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格式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70848" y="3246120"/>
            <a:ext cx="2423160" cy="228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30768" y="363931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8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0848" y="3611880"/>
            <a:ext cx="2423160" cy="228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430768" y="40050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8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受众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0848" y="3977640"/>
            <a:ext cx="2423160" cy="228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30768" y="437083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8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预算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70848" y="4343400"/>
            <a:ext cx="2423160" cy="228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30768" y="473659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8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基调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70848" y="4709159"/>
            <a:ext cx="2423160" cy="228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8430768" y="5029200"/>
            <a:ext cx="3063240" cy="420624"/>
          </a:xfrm>
          <a:prstGeom prst="roundRect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总控 · 按项目卡推进九阶段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8" y="5504688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19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总控只广播 brief，不直接写剧本正文。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310896"/>
            <a:ext cx="210312" cy="0"/>
          </a:xfrm>
          <a:prstGeom prst="line">
            <a:avLst/>
          </a:prstGeom>
          <a:ln w="31750">
            <a:solidFill>
              <a:srgbClr val="B07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03 / 顶栏 · 知识库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上传一次，挂到对应阶段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编剧工坊 · 三块工作区操作指南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5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顶栏「知识库」是资料入口。上传的编剧书、剧本、案例会进入知识库；扫描版 PDF 会在本机自动 OCR。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520440" cy="1261872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85800" y="2029968"/>
            <a:ext cx="310896" cy="310896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上传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9572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5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顶栏「知识库」→ 上传 .md / .txt / .docx / .pdf，单文件 ≤ 30 MB。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874519"/>
            <a:ext cx="3520440" cy="1261872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480560" y="2029968"/>
            <a:ext cx="310896" cy="310896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0116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取字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9572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5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文字版直接读文字层；扫描版逐页 OCR（默认最多 120 页，本地运行）。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520440" cy="1261872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275320" y="2029968"/>
            <a:ext cx="310896" cy="310896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0116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挂载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39572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5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到「阶段说明」→ 知识库参考 →「+ 从知识库添加」，选当前阶段要用的文件。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91840"/>
            <a:ext cx="3657600" cy="237744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438144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知识库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675887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已上传 3 个文件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105656"/>
            <a:ext cx="475488" cy="219456"/>
          </a:xfrm>
          <a:prstGeom prst="round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6908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1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01_故事_麦基.md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09651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75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6.4 KB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581144"/>
            <a:ext cx="475488" cy="219456"/>
          </a:xfrm>
          <a:prstGeom prst="roundRect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5445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1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救猫咪.pdf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572000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75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8.8 MB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5056632"/>
            <a:ext cx="475488" cy="219456"/>
          </a:xfrm>
          <a:prstGeom prst="roundRect">
            <a:avLst/>
          </a:prstGeom>
          <a:solidFill>
            <a:srgbClr val="9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OCR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020056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1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打草稿_p9-192.ocr.txt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504748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75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146 KB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224528" y="4315968"/>
            <a:ext cx="292608" cy="310896"/>
          </a:xfrm>
          <a:prstGeom prst="rightArrow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53712" y="3291840"/>
            <a:ext cx="3017520" cy="237744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736592" y="3438144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6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阶段说明 · 类型选择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6592" y="368503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三块内容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405993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交付前必须回答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05993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04 条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736592" y="4352544"/>
            <a:ext cx="2532888" cy="0"/>
          </a:xfrm>
          <a:prstGeom prst="line">
            <a:avLst/>
          </a:prstGeom>
          <a:ln w="635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36592" y="4489704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本阶段依据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4489704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03 条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736592" y="4782312"/>
            <a:ext cx="2532888" cy="0"/>
          </a:xfrm>
          <a:prstGeom prst="line">
            <a:avLst/>
          </a:prstGeom>
          <a:ln w="635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36592" y="491947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19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知识库参考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19472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01 个文件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36592" y="5248656"/>
            <a:ext cx="2606040" cy="274320"/>
          </a:xfrm>
          <a:prstGeom prst="roundRect">
            <a:avLst/>
          </a:prstGeom>
          <a:solidFill>
            <a:srgbClr val="DCEAEA"/>
          </a:solidFill>
          <a:ln>
            <a:solidFill>
              <a:srgbClr val="C9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780" b="0" i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· 02_救猫咪_斯奈德.md    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76072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60" b="0" i="1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挂载后才会进入该阶段简报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26679" y="3337560"/>
            <a:ext cx="3977639" cy="2331720"/>
          </a:xfrm>
          <a:prstGeom prst="roundRect">
            <a:avLst>
              <a:gd name="adj" fmla="val 4000"/>
            </a:avLst>
          </a:prstGeom>
          <a:solidFill>
            <a:srgbClr val="F2E4C8"/>
          </a:solidFill>
          <a:ln w="9525">
            <a:solidFill>
              <a:srgbClr val="E3C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936992" y="34930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07D2B"/>
                </a:solidFill>
                <a:latin typeface="Microsoft YaHei"/>
                <a:ea typeface="Microsoft YaHei"/>
                <a:cs typeface="Microsoft YaHei"/>
              </a:rPr>
              <a:t>讲解时提醒三件事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6992" y="3886200"/>
            <a:ext cx="3520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4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·  OCR 在本机跑，不上传、不联网。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36992" y="4389120"/>
            <a:ext cx="3520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4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·  页数多的扫描件上传会久一点，按钮显示「OCR 中…」。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36992" y="4892040"/>
            <a:ext cx="3520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4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·  上传完不等于已使用：还要在每个阶段里挂载。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310896"/>
            <a:ext cx="210312" cy="0"/>
          </a:xfrm>
          <a:prstGeom prst="line">
            <a:avLst/>
          </a:prstGeom>
          <a:ln w="31750">
            <a:solidFill>
              <a:srgbClr val="B07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04 / 左栏 · 九道工序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按编号走，就是交付顺序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编剧工坊 · 三块工作区操作指南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8503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四个阶段、九个工序。点任意一项，中栏切到该阶段；编号 01—09 是推荐顺序，不是必须死守。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2697480" cy="749808"/>
          </a:xfrm>
          <a:prstGeom prst="round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</a:t>
            </a:r>
          </a:p>
          <a:p>
            <a:r>
              <a:rPr sz="88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把类型和主题定下来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715768"/>
            <a:ext cx="310896" cy="310896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70048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8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类型选择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80944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主类型 + 副类型 + 观众买点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511296"/>
            <a:ext cx="2331720" cy="0"/>
          </a:xfrm>
          <a:prstGeom prst="line">
            <a:avLst/>
          </a:prstGeom>
          <a:ln w="635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85800" y="3703320"/>
            <a:ext cx="310896" cy="310896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5760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8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主题撰写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684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控制性理念 / 反理念 / 主题场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2424" y="178308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392424" y="1783080"/>
            <a:ext cx="2697480" cy="749808"/>
          </a:xfrm>
          <a:prstGeom prst="roundRect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  <a:p>
            <a:r>
              <a:rPr sz="88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搭骨架，排节拍</a:t>
            </a:r>
          </a:p>
        </p:txBody>
      </p:sp>
      <p:sp>
        <p:nvSpPr>
          <p:cNvPr id="20" name="Oval 19"/>
          <p:cNvSpPr/>
          <p:nvPr/>
        </p:nvSpPr>
        <p:spPr>
          <a:xfrm>
            <a:off x="3575304" y="2715768"/>
            <a:ext cx="310896" cy="310896"/>
          </a:xfrm>
          <a:prstGeom prst="ellipse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670048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8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三幕八序列大纲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6784" y="2980944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8 个序列，每序列一个转折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75304" y="3511296"/>
            <a:ext cx="2331720" cy="0"/>
          </a:xfrm>
          <a:prstGeom prst="line">
            <a:avLst/>
          </a:prstGeom>
          <a:ln w="635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575304" y="3703320"/>
            <a:ext cx="310896" cy="310896"/>
          </a:xfrm>
          <a:prstGeom prst="ellipse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6784" y="365760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8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详细故事小节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6784" y="39684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15 节拍，把每拍写成事件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75304" y="4498848"/>
            <a:ext cx="2331720" cy="0"/>
          </a:xfrm>
          <a:prstGeom prst="line">
            <a:avLst/>
          </a:prstGeom>
          <a:ln w="635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575304" y="4690872"/>
            <a:ext cx="310896" cy="310896"/>
          </a:xfrm>
          <a:prstGeom prst="ellipse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86784" y="4645152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8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情节点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4" y="495604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情节点 Ⅰ/Ⅱ、伏笔与回馈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178308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281928" y="1783080"/>
            <a:ext cx="2697480" cy="749808"/>
          </a:xfrm>
          <a:prstGeom prst="roundRect">
            <a:avLst/>
          </a:prstGeom>
          <a:solidFill>
            <a:srgbClr val="5B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人物</a:t>
            </a:r>
          </a:p>
          <a:p>
            <a:r>
              <a:rPr sz="88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人物与场景落地</a:t>
            </a:r>
          </a:p>
        </p:txBody>
      </p:sp>
      <p:sp>
        <p:nvSpPr>
          <p:cNvPr id="33" name="Oval 32"/>
          <p:cNvSpPr/>
          <p:nvPr/>
        </p:nvSpPr>
        <p:spPr>
          <a:xfrm>
            <a:off x="6464808" y="2715768"/>
            <a:ext cx="310896" cy="310896"/>
          </a:xfrm>
          <a:prstGeom prst="ellipse">
            <a:avLst/>
          </a:prstGeom>
          <a:solidFill>
            <a:srgbClr val="5B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2670048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8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主要人物设计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2980944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欲望 / 缺陷 / 秘密 / 弧光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64808" y="3511296"/>
            <a:ext cx="2331720" cy="0"/>
          </a:xfrm>
          <a:prstGeom prst="line">
            <a:avLst/>
          </a:prstGeom>
          <a:ln w="635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64808" y="3703320"/>
            <a:ext cx="310896" cy="310896"/>
          </a:xfrm>
          <a:prstGeom prst="ellipse">
            <a:avLst/>
          </a:prstGeom>
          <a:solidFill>
            <a:srgbClr val="5B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365760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8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主要场景设计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39684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场景卡：母题、声音、功能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71432" y="1783080"/>
            <a:ext cx="2697480" cy="420624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9171432" y="1783080"/>
            <a:ext cx="2697480" cy="749808"/>
          </a:xfrm>
          <a:prstGeom prst="roundRect">
            <a:avLst/>
          </a:prstGeom>
          <a:solidFill>
            <a:srgbClr val="9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9144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成稿</a:t>
            </a:r>
          </a:p>
          <a:p>
            <a:r>
              <a:rPr sz="88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分场分集与剧本</a:t>
            </a:r>
          </a:p>
        </p:txBody>
      </p:sp>
      <p:sp>
        <p:nvSpPr>
          <p:cNvPr id="42" name="Oval 41"/>
          <p:cNvSpPr/>
          <p:nvPr/>
        </p:nvSpPr>
        <p:spPr>
          <a:xfrm>
            <a:off x="9354312" y="2715768"/>
            <a:ext cx="310896" cy="310896"/>
          </a:xfrm>
          <a:prstGeom prst="ellipse">
            <a:avLst/>
          </a:prstGeom>
          <a:solidFill>
            <a:srgbClr val="9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2670048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8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分场 / 分集大纲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65792" y="2980944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12 集分场，钩子与情绪曲线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354312" y="3511296"/>
            <a:ext cx="2331720" cy="0"/>
          </a:xfrm>
          <a:prstGeom prst="line">
            <a:avLst/>
          </a:prstGeom>
          <a:ln w="635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9354312" y="3703320"/>
            <a:ext cx="310896" cy="310896"/>
          </a:xfrm>
          <a:prstGeom prst="ellipse">
            <a:avLst/>
          </a:prstGeom>
          <a:solidFill>
            <a:srgbClr val="9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65792" y="365760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8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完整剧本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65792" y="39684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19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按菲尔德格式写第 1 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14476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讲解提示：先选阶段，再去中栏。不要跳阶段直接写剧本。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310896"/>
            <a:ext cx="210312" cy="0"/>
          </a:xfrm>
          <a:prstGeom prst="line">
            <a:avLst/>
          </a:prstGeom>
          <a:ln w="31750">
            <a:solidFill>
              <a:srgbClr val="B07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05 / 中栏 · 会话与预设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会话窗口 &amp; 默认预设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编剧工坊 · 三块工作区操作指南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559552" cy="48006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4447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会话窗口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556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写补充要求、看总控简报、复制给子智能体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057400"/>
            <a:ext cx="5120640" cy="1901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215798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19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类型选择 · 会话窗口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450592"/>
            <a:ext cx="3840480" cy="438912"/>
          </a:xfrm>
          <a:prstGeom prst="roundRect">
            <a:avLst>
              <a:gd name="adj" fmla="val 8000"/>
            </a:avLst>
          </a:prstGeom>
          <a:solidFill>
            <a:srgbClr val="F2E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2514600"/>
            <a:ext cx="36393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1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总控简报：主类型=社会派悬疑，副类型=家庭伦理；先把类型承诺说清楚。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2962656"/>
            <a:ext cx="3246120" cy="384048"/>
          </a:xfrm>
          <a:prstGeom prst="roundRect">
            <a:avLst>
              <a:gd name="adj" fmla="val 8000"/>
            </a:avLst>
          </a:prstGeom>
          <a:solidFill>
            <a:srgbClr val="DC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41448" y="3026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19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第 2 集结尾先不揭示磁带来源，只给声音。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493008"/>
            <a:ext cx="3794760" cy="310896"/>
          </a:xfrm>
          <a:prstGeom prst="roundRect">
            <a:avLst>
              <a:gd name="adj" fmla="val 4000"/>
            </a:avLst>
          </a:prstGeom>
          <a:solidFill>
            <a:srgbClr val="F5F0E5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0120" y="3547872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8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改哪一拍 / 换哪个人物 / 加哪场戏……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493008"/>
            <a:ext cx="896112" cy="310896"/>
          </a:xfrm>
          <a:prstGeom prst="roundRect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6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记入会话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224528"/>
            <a:ext cx="5074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19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1.  空白项目显示引导；总控后顶部出现该阶段简报。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45736"/>
            <a:ext cx="5074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19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2.  在底部输入「改哪一拍 / 换哪个人物 / 加哪场戏」，点「记入会话」。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266944"/>
            <a:ext cx="5074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19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3.  「复制简报」把项目卡 + 预设 + 会话打包，粘到子智能体会话继续。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280160"/>
            <a:ext cx="5394960" cy="480060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0" y="14447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B07D2B"/>
                </a:solidFill>
                <a:latin typeface="Microsoft YaHei"/>
                <a:ea typeface="Microsoft YaHei"/>
                <a:cs typeface="Microsoft YaHei"/>
              </a:rPr>
              <a:t>默认预设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7556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这一页就是交给子智能体的 brief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73952" y="2057400"/>
            <a:ext cx="4956048" cy="19019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29400" y="2157984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19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类型策划 / 默认预设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22992" y="2121408"/>
            <a:ext cx="987552" cy="237744"/>
          </a:xfrm>
          <a:prstGeom prst="roundRect">
            <a:avLst/>
          </a:prstGeom>
          <a:solidFill>
            <a:srgbClr val="F5F0E5"/>
          </a:solidFill>
          <a:ln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重置为默认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450592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90" b="1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你是「类型策划」，只做一件事：为这个项目定类型。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761488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9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【方法】① 十类型比对  ② 选主类型  ③ 查类型合同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072384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9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【输出】七列表格 + 4 条规则 + 3 条卖点 + 3 部对标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383280"/>
            <a:ext cx="4526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79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【自检】主类型唯一？副类型只加一个？预算匹配？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224528"/>
            <a:ext cx="4892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19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1.  预设写清角色、输入、方法、输出格式、自检问题。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745736"/>
            <a:ext cx="4892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19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2.  可以直接改；改完点「保存」写入当前阶段。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5266944"/>
            <a:ext cx="4892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919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3.  「重置为默认」恢复 presets/stages.json 的原始预设。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310896"/>
            <a:ext cx="210312" cy="0"/>
          </a:xfrm>
          <a:prstGeom prst="line">
            <a:avLst/>
          </a:prstGeom>
          <a:ln w="31750">
            <a:solidFill>
              <a:srgbClr val="B07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06 / 中栏 · 阶段说明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三块内容都能单独改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编剧工坊 · 三块工作区操作指南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8" name="Picture 7" descr="ui_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2817"/>
            <a:ext cx="7178040" cy="4852444"/>
          </a:xfrm>
          <a:prstGeom prst="rect">
            <a:avLst/>
          </a:prstGeom>
          <a:ln w="9525">
            <a:solidFill>
              <a:srgbClr val="DCD2B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24535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 i="1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阶段说明：问题、依据、知识库参考</a:t>
            </a:r>
          </a:p>
        </p:txBody>
      </p:sp>
      <p:sp>
        <p:nvSpPr>
          <p:cNvPr id="10" name="Oval 9"/>
          <p:cNvSpPr/>
          <p:nvPr/>
        </p:nvSpPr>
        <p:spPr>
          <a:xfrm>
            <a:off x="7818120" y="1344168"/>
            <a:ext cx="347472" cy="347472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13258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交付前必须回答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69164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6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每一项都是输入框。直接改文字；右侧 × 删除；底部「+ 添加一问」新增。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2441448"/>
            <a:ext cx="347472" cy="347472"/>
          </a:xfrm>
          <a:prstGeom prst="ellipse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423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本阶段依据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78892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6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书、章节、方法、案例。也可以逐条改、删、加，不必只用默认三本。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3538727"/>
            <a:ext cx="347472" cy="347472"/>
          </a:xfrm>
          <a:prstGeom prst="ellipse">
            <a:avLst/>
          </a:prstGeom>
          <a:solidFill>
            <a:srgbClr val="9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520439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知识库参考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8620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6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点「+ 从知识库添加」，把上传的剧本/编剧书挂到当前阶段；× 单独移除。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4754880"/>
            <a:ext cx="3840480" cy="1051560"/>
          </a:xfrm>
          <a:prstGeom prst="roundRect">
            <a:avLst>
              <a:gd name="adj" fmla="val 4000"/>
            </a:avLst>
          </a:prstGeom>
          <a:solidFill>
            <a:srgbClr val="F2E4C8"/>
          </a:solidFill>
          <a:ln w="9525">
            <a:solidFill>
              <a:srgbClr val="E3C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28431" y="4919472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1" i="0">
                <a:solidFill>
                  <a:srgbClr val="B07D2B"/>
                </a:solidFill>
                <a:latin typeface="Microsoft YaHei"/>
                <a:ea typeface="Microsoft YaHei"/>
                <a:cs typeface="Microsoft YaHei"/>
              </a:rPr>
              <a:t>改完记得点顶栏「保存」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5230368"/>
            <a:ext cx="3429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0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三块内容会写入 plugin-state.json，并进入该阶段简报；不保存只在当前页面生效。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310896"/>
            <a:ext cx="210312" cy="0"/>
          </a:xfrm>
          <a:prstGeom prst="line">
            <a:avLst/>
          </a:prstGeom>
          <a:ln w="31750">
            <a:solidFill>
              <a:srgbClr val="B07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07 / 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保存、生成，以及用示范案例对照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编剧工坊 · 三块工作区操作指南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520440" cy="1874519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04088" y="1572768"/>
            <a:ext cx="365760" cy="36576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55448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保存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1168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4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顶栏「保存」把项目卡、九阶段预设、会话、阶段说明、知识库引用写入 plugin-state.json。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20440" cy="1874519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498848" y="1572768"/>
            <a:ext cx="365760" cy="365760"/>
          </a:xfrm>
          <a:prstGeom prst="ellipse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155448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生成全部产物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01168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4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生成 Excel 剧作蓝图 + Word 完整剧本，写入 产出/。需要结构化数据，空白项目按钮不可用。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20440" cy="1874519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293608" y="1572768"/>
            <a:ext cx="365760" cy="365760"/>
          </a:xfrm>
          <a:prstGeom prst="ellipse">
            <a:avLst/>
          </a:prstGeom>
          <a:solidFill>
            <a:srgbClr val="9B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1554480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示范案例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01168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4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空白项目 →「载入示范案例」看完整结果；看完点「清空演示，回到空白项目」。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66160"/>
            <a:ext cx="6766560" cy="2331720"/>
          </a:xfrm>
          <a:prstGeom prst="roundRect">
            <a:avLst>
              <a:gd name="adj" fmla="val 4000"/>
            </a:avLst>
          </a:prstGeom>
          <a:solidFill>
            <a:srgbClr val="1B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373075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9DC9CB"/>
                </a:solidFill>
                <a:latin typeface="Microsoft YaHei"/>
                <a:ea typeface="Microsoft YaHei"/>
                <a:cs typeface="Microsoft YaHei"/>
              </a:rPr>
              <a:t>产出目录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99592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编剧工坊 / 产出 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26280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07D2B"/>
                </a:solidFill>
                <a:latin typeface="Microsoft YaHei"/>
                <a:ea typeface="Microsoft YaHei"/>
                <a:cs typeface="Microsoft YaHei"/>
              </a:rPr>
              <a:t>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17136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01_剧作蓝图_回声镇.xlsx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52628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9C0AE"/>
                </a:solidFill>
                <a:latin typeface="Microsoft YaHei"/>
                <a:ea typeface="Microsoft YaHei"/>
                <a:cs typeface="Microsoft YaHei"/>
              </a:rPr>
              <a:t>14 张可见表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93208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B07D2B"/>
                </a:solidFill>
                <a:latin typeface="Microsoft YaHei"/>
                <a:ea typeface="Microsoft YaHei"/>
                <a:cs typeface="Microsoft YaHei"/>
              </a:rPr>
              <a:t>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84064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02_第01集_完整剧本_回声镇.docx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09320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9C0AE"/>
                </a:solidFill>
                <a:latin typeface="Microsoft YaHei"/>
                <a:ea typeface="Microsoft YaHei"/>
                <a:cs typeface="Microsoft YaHei"/>
              </a:rPr>
              <a:t>13 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3566160"/>
            <a:ext cx="4206240" cy="2331720"/>
          </a:xfrm>
          <a:prstGeom prst="roundRect">
            <a:avLst>
              <a:gd name="adj" fmla="val 4000"/>
            </a:avLst>
          </a:prstGeom>
          <a:solidFill>
            <a:srgbClr val="F2E4C8"/>
          </a:solidFill>
          <a:ln w="9525">
            <a:solidFill>
              <a:srgbClr val="E3C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726679" y="37490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B07D2B"/>
                </a:solidFill>
                <a:latin typeface="Microsoft YaHei"/>
                <a:ea typeface="Microsoft YaHei"/>
                <a:cs typeface="Microsoft YaHei"/>
              </a:rPr>
              <a:t>一句话记住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11480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03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空白项目只做规划；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03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要看 Excel/Word 成品，先载入示范案例或导入结构化数据。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513892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1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生成前先保存，避免刚改的设定没进产物。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310896"/>
            <a:ext cx="210312" cy="0"/>
          </a:xfrm>
          <a:prstGeom prst="line">
            <a:avLst/>
          </a:prstGeom>
          <a:ln w="31750">
            <a:solidFill>
              <a:srgbClr val="B07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08 / 一页带走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5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讲解顺序：一条线走完五步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6537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编剧工坊 · 三块工作区操作指南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96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Oval 7"/>
          <p:cNvSpPr/>
          <p:nvPr/>
        </p:nvSpPr>
        <p:spPr>
          <a:xfrm>
            <a:off x="1252728" y="1691640"/>
            <a:ext cx="566928" cy="566928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2148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5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填项目卡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19" y="1975104"/>
            <a:ext cx="731520" cy="0"/>
          </a:xfrm>
          <a:prstGeom prst="line">
            <a:avLst/>
          </a:prstGeom>
          <a:ln w="1778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557016" y="1691640"/>
            <a:ext cx="566928" cy="566928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2423160"/>
            <a:ext cx="2148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5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点总控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78808" y="1975104"/>
            <a:ext cx="731520" cy="0"/>
          </a:xfrm>
          <a:prstGeom prst="line">
            <a:avLst/>
          </a:prstGeom>
          <a:ln w="1778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861304" y="1691640"/>
            <a:ext cx="566928" cy="566928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2423160"/>
            <a:ext cx="2148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5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选阶段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83096" y="1975104"/>
            <a:ext cx="731520" cy="0"/>
          </a:xfrm>
          <a:prstGeom prst="line">
            <a:avLst/>
          </a:prstGeom>
          <a:ln w="1778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165592" y="1691640"/>
            <a:ext cx="566928" cy="566928"/>
          </a:xfrm>
          <a:prstGeom prst="ellipse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5784" y="2423160"/>
            <a:ext cx="2148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5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写会话 / 改预设 / 挂知识库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7384" y="1975104"/>
            <a:ext cx="731520" cy="0"/>
          </a:xfrm>
          <a:prstGeom prst="line">
            <a:avLst/>
          </a:prstGeom>
          <a:ln w="17780">
            <a:solidFill>
              <a:srgbClr val="DC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469880" y="1691640"/>
            <a:ext cx="566928" cy="566928"/>
          </a:xfrm>
          <a:prstGeom prst="ellipse">
            <a:avLst/>
          </a:prstGeom>
          <a:solidFill>
            <a:srgbClr val="B0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2423160"/>
            <a:ext cx="2148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5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保存并生成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520440"/>
            <a:ext cx="3520440" cy="141732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4088" y="368503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1F6F78"/>
                </a:solidFill>
                <a:latin typeface="Microsoft YaHei"/>
                <a:ea typeface="Microsoft YaHei"/>
                <a:cs typeface="Microsoft YaHei"/>
              </a:rPr>
              <a:t>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3749039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选阶段：九道工序是交付顺序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520440"/>
            <a:ext cx="3520440" cy="141732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498848" y="368503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B07D2B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3749039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做内容：会话 / 预设 / 阶段说明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520440"/>
            <a:ext cx="3520440" cy="1417320"/>
          </a:xfrm>
          <a:prstGeom prst="roundRect">
            <a:avLst>
              <a:gd name="adj" fmla="val 4000"/>
            </a:avLst>
          </a:prstGeom>
          <a:solidFill>
            <a:srgbClr val="FFFDF7"/>
          </a:solidFill>
          <a:ln w="9525">
            <a:solidFill>
              <a:srgbClr val="DC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93608" y="368503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2248" y="3749039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E4C59"/>
                </a:solidFill>
                <a:latin typeface="Microsoft YaHei"/>
                <a:ea typeface="Microsoft YaHei"/>
                <a:cs typeface="Microsoft YaHei"/>
              </a:rPr>
              <a:t>管项目：项目卡 / 总控 / 产出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34924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 i="0">
                <a:solidFill>
                  <a:srgbClr val="1B2A38"/>
                </a:solidFill>
                <a:latin typeface="Microsoft YaHei"/>
                <a:ea typeface="Microsoft YaHei"/>
                <a:cs typeface="Microsoft YaHei"/>
              </a:rPr>
              <a:t>先让项目卡说清楚，再让每个阶段各自开工。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5925312"/>
            <a:ext cx="2606040" cy="0"/>
          </a:xfrm>
          <a:prstGeom prst="line">
            <a:avLst/>
          </a:prstGeom>
          <a:ln w="25400">
            <a:solidFill>
              <a:srgbClr val="B07D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60350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 i="0">
                <a:solidFill>
                  <a:srgbClr val="786F62"/>
                </a:solidFill>
                <a:latin typeface="Microsoft YaHei"/>
                <a:ea typeface="Microsoft YaHei"/>
                <a:cs typeface="Microsoft YaHei"/>
              </a:rPr>
              <a:t>编剧工坊 · 操作指南 / 讲解结束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